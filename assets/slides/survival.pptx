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5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2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3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0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7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4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63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11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8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91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D089E-8457-4CAD-AF01-1E91A80917EC}" type="datetimeFigureOut">
              <a:rPr lang="en-US" smtClean="0"/>
              <a:t>6/26/2024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763A5-79BC-447D-AA3A-BAC33EE85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089" y="1869515"/>
            <a:ext cx="6400328" cy="382684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96871"/>
              </p:ext>
            </p:extLst>
          </p:nvPr>
        </p:nvGraphicFramePr>
        <p:xfrm>
          <a:off x="5761085" y="5654786"/>
          <a:ext cx="5898997" cy="1089792"/>
        </p:xfrm>
        <a:graphic>
          <a:graphicData uri="http://schemas.openxmlformats.org/drawingml/2006/table">
            <a:tbl>
              <a:tblPr/>
              <a:tblGrid>
                <a:gridCol w="453769">
                  <a:extLst>
                    <a:ext uri="{9D8B030D-6E8A-4147-A177-3AD203B41FA5}">
                      <a16:colId xmlns:a16="http://schemas.microsoft.com/office/drawing/2014/main" val="1640934649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934112919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459492998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507543306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292865236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685873025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312268527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670254421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656355121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4150615941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577480120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176378792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03742920"/>
                    </a:ext>
                  </a:extLst>
                </a:gridCol>
              </a:tblGrid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032436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440997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7045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14611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59" y="5753680"/>
            <a:ext cx="1425680" cy="990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6702" y="892097"/>
            <a:ext cx="197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CN at baseline</a:t>
            </a:r>
          </a:p>
          <a:p>
            <a:r>
              <a:rPr lang="en-US" dirty="0" smtClean="0"/>
              <a:t>Conversion to AD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731361"/>
              </p:ext>
            </p:extLst>
          </p:nvPr>
        </p:nvGraphicFramePr>
        <p:xfrm>
          <a:off x="5482165" y="424205"/>
          <a:ext cx="5710175" cy="1114223"/>
        </p:xfrm>
        <a:graphic>
          <a:graphicData uri="http://schemas.openxmlformats.org/drawingml/2006/table">
            <a:tbl>
              <a:tblPr/>
              <a:tblGrid>
                <a:gridCol w="1142035">
                  <a:extLst>
                    <a:ext uri="{9D8B030D-6E8A-4147-A177-3AD203B41FA5}">
                      <a16:colId xmlns:a16="http://schemas.microsoft.com/office/drawing/2014/main" val="4059207783"/>
                    </a:ext>
                  </a:extLst>
                </a:gridCol>
                <a:gridCol w="1142035">
                  <a:extLst>
                    <a:ext uri="{9D8B030D-6E8A-4147-A177-3AD203B41FA5}">
                      <a16:colId xmlns:a16="http://schemas.microsoft.com/office/drawing/2014/main" val="2551905223"/>
                    </a:ext>
                  </a:extLst>
                </a:gridCol>
                <a:gridCol w="1142035">
                  <a:extLst>
                    <a:ext uri="{9D8B030D-6E8A-4147-A177-3AD203B41FA5}">
                      <a16:colId xmlns:a16="http://schemas.microsoft.com/office/drawing/2014/main" val="1519316445"/>
                    </a:ext>
                  </a:extLst>
                </a:gridCol>
                <a:gridCol w="1142035">
                  <a:extLst>
                    <a:ext uri="{9D8B030D-6E8A-4147-A177-3AD203B41FA5}">
                      <a16:colId xmlns:a16="http://schemas.microsoft.com/office/drawing/2014/main" val="2283820569"/>
                    </a:ext>
                  </a:extLst>
                </a:gridCol>
                <a:gridCol w="1142035">
                  <a:extLst>
                    <a:ext uri="{9D8B030D-6E8A-4147-A177-3AD203B41FA5}">
                      <a16:colId xmlns:a16="http://schemas.microsoft.com/office/drawing/2014/main" val="3558645518"/>
                    </a:ext>
                  </a:extLst>
                </a:gridCol>
              </a:tblGrid>
              <a:tr h="186563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(%) converted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582857"/>
                  </a:ext>
                </a:extLst>
              </a:tr>
              <a:tr h="2772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 [0.25, 1.16]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711229"/>
                  </a:ext>
                </a:extLst>
              </a:tr>
              <a:tr h="2772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(16)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1.39 [0.47, 4.07]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801397"/>
                  </a:ext>
                </a:extLst>
              </a:tr>
              <a:tr h="1865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(12)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 [0.39, 4.27]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019632"/>
                  </a:ext>
                </a:extLst>
              </a:tr>
              <a:tr h="1865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(10)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77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80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529" y="5742105"/>
            <a:ext cx="1425680" cy="990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6702" y="892097"/>
            <a:ext cx="1973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MCI at baseline</a:t>
            </a:r>
          </a:p>
          <a:p>
            <a:r>
              <a:rPr lang="en-US" dirty="0" smtClean="0"/>
              <a:t>Conversion to AD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805219"/>
              </p:ext>
            </p:extLst>
          </p:nvPr>
        </p:nvGraphicFramePr>
        <p:xfrm>
          <a:off x="5957854" y="5643211"/>
          <a:ext cx="5898997" cy="1089792"/>
        </p:xfrm>
        <a:graphic>
          <a:graphicData uri="http://schemas.openxmlformats.org/drawingml/2006/table">
            <a:tbl>
              <a:tblPr/>
              <a:tblGrid>
                <a:gridCol w="453769">
                  <a:extLst>
                    <a:ext uri="{9D8B030D-6E8A-4147-A177-3AD203B41FA5}">
                      <a16:colId xmlns:a16="http://schemas.microsoft.com/office/drawing/2014/main" val="3700925108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82610177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890140922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592446916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794480238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929622819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620299382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487782673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436340142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1086617378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654755894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237429287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502018228"/>
                    </a:ext>
                  </a:extLst>
                </a:gridCol>
              </a:tblGrid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07253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747292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784205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482646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724" y="1722227"/>
            <a:ext cx="6606929" cy="3961081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8121"/>
              </p:ext>
            </p:extLst>
          </p:nvPr>
        </p:nvGraphicFramePr>
        <p:xfrm>
          <a:off x="6298110" y="165843"/>
          <a:ext cx="5450195" cy="1275093"/>
        </p:xfrm>
        <a:graphic>
          <a:graphicData uri="http://schemas.openxmlformats.org/drawingml/2006/table">
            <a:tbl>
              <a:tblPr/>
              <a:tblGrid>
                <a:gridCol w="1090039">
                  <a:extLst>
                    <a:ext uri="{9D8B030D-6E8A-4147-A177-3AD203B41FA5}">
                      <a16:colId xmlns:a16="http://schemas.microsoft.com/office/drawing/2014/main" val="3048777054"/>
                    </a:ext>
                  </a:extLst>
                </a:gridCol>
                <a:gridCol w="1090039">
                  <a:extLst>
                    <a:ext uri="{9D8B030D-6E8A-4147-A177-3AD203B41FA5}">
                      <a16:colId xmlns:a16="http://schemas.microsoft.com/office/drawing/2014/main" val="3564111778"/>
                    </a:ext>
                  </a:extLst>
                </a:gridCol>
                <a:gridCol w="1090039">
                  <a:extLst>
                    <a:ext uri="{9D8B030D-6E8A-4147-A177-3AD203B41FA5}">
                      <a16:colId xmlns:a16="http://schemas.microsoft.com/office/drawing/2014/main" val="1958082486"/>
                    </a:ext>
                  </a:extLst>
                </a:gridCol>
                <a:gridCol w="1090039">
                  <a:extLst>
                    <a:ext uri="{9D8B030D-6E8A-4147-A177-3AD203B41FA5}">
                      <a16:colId xmlns:a16="http://schemas.microsoft.com/office/drawing/2014/main" val="3119733867"/>
                    </a:ext>
                  </a:extLst>
                </a:gridCol>
                <a:gridCol w="1090039">
                  <a:extLst>
                    <a:ext uri="{9D8B030D-6E8A-4147-A177-3AD203B41FA5}">
                      <a16:colId xmlns:a16="http://schemas.microsoft.com/office/drawing/2014/main" val="3263035548"/>
                    </a:ext>
                  </a:extLst>
                </a:gridCol>
              </a:tblGrid>
              <a:tr h="274482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(%) converted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497107"/>
                  </a:ext>
                </a:extLst>
              </a:tr>
              <a:tr h="2744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 (12)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 [0.16, 0.36]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376717"/>
                  </a:ext>
                </a:extLst>
              </a:tr>
              <a:tr h="2744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(17)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 [0.16, 0.54]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758126"/>
                  </a:ext>
                </a:extLst>
              </a:tr>
              <a:tr h="2744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(28)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 [0.26, 0.79]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31632"/>
                  </a:ext>
                </a:extLst>
              </a:tr>
              <a:tr h="1599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 (59)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19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79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575" y="5707381"/>
            <a:ext cx="1425680" cy="9908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6702" y="892097"/>
            <a:ext cx="2375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CN or MCI at baseline</a:t>
            </a:r>
          </a:p>
          <a:p>
            <a:r>
              <a:rPr lang="en-US" dirty="0" smtClean="0"/>
              <a:t>Conversion to AD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124" y="1695183"/>
            <a:ext cx="6518839" cy="394802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997239"/>
              </p:ext>
            </p:extLst>
          </p:nvPr>
        </p:nvGraphicFramePr>
        <p:xfrm>
          <a:off x="6106243" y="5608487"/>
          <a:ext cx="5898997" cy="1089792"/>
        </p:xfrm>
        <a:graphic>
          <a:graphicData uri="http://schemas.openxmlformats.org/drawingml/2006/table">
            <a:tbl>
              <a:tblPr/>
              <a:tblGrid>
                <a:gridCol w="453769">
                  <a:extLst>
                    <a:ext uri="{9D8B030D-6E8A-4147-A177-3AD203B41FA5}">
                      <a16:colId xmlns:a16="http://schemas.microsoft.com/office/drawing/2014/main" val="3731196919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171011440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316630204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455843868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580780012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006388904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89866787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790639494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262097256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341770837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443017240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3708232159"/>
                    </a:ext>
                  </a:extLst>
                </a:gridCol>
                <a:gridCol w="453769">
                  <a:extLst>
                    <a:ext uri="{9D8B030D-6E8A-4147-A177-3AD203B41FA5}">
                      <a16:colId xmlns:a16="http://schemas.microsoft.com/office/drawing/2014/main" val="2591626074"/>
                    </a:ext>
                  </a:extLst>
                </a:gridCol>
              </a:tblGrid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161890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7328905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481735"/>
                  </a:ext>
                </a:extLst>
              </a:tr>
              <a:tr h="2724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12809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452616"/>
              </p:ext>
            </p:extLst>
          </p:nvPr>
        </p:nvGraphicFramePr>
        <p:xfrm>
          <a:off x="6106243" y="271325"/>
          <a:ext cx="5559705" cy="1241543"/>
        </p:xfrm>
        <a:graphic>
          <a:graphicData uri="http://schemas.openxmlformats.org/drawingml/2006/table">
            <a:tbl>
              <a:tblPr/>
              <a:tblGrid>
                <a:gridCol w="1111941">
                  <a:extLst>
                    <a:ext uri="{9D8B030D-6E8A-4147-A177-3AD203B41FA5}">
                      <a16:colId xmlns:a16="http://schemas.microsoft.com/office/drawing/2014/main" val="3653664898"/>
                    </a:ext>
                  </a:extLst>
                </a:gridCol>
                <a:gridCol w="1111941">
                  <a:extLst>
                    <a:ext uri="{9D8B030D-6E8A-4147-A177-3AD203B41FA5}">
                      <a16:colId xmlns:a16="http://schemas.microsoft.com/office/drawing/2014/main" val="648113110"/>
                    </a:ext>
                  </a:extLst>
                </a:gridCol>
                <a:gridCol w="1111941">
                  <a:extLst>
                    <a:ext uri="{9D8B030D-6E8A-4147-A177-3AD203B41FA5}">
                      <a16:colId xmlns:a16="http://schemas.microsoft.com/office/drawing/2014/main" val="4155550875"/>
                    </a:ext>
                  </a:extLst>
                </a:gridCol>
                <a:gridCol w="1111941">
                  <a:extLst>
                    <a:ext uri="{9D8B030D-6E8A-4147-A177-3AD203B41FA5}">
                      <a16:colId xmlns:a16="http://schemas.microsoft.com/office/drawing/2014/main" val="680524804"/>
                    </a:ext>
                  </a:extLst>
                </a:gridCol>
                <a:gridCol w="1111941">
                  <a:extLst>
                    <a:ext uri="{9D8B030D-6E8A-4147-A177-3AD203B41FA5}">
                      <a16:colId xmlns:a16="http://schemas.microsoft.com/office/drawing/2014/main" val="105065553"/>
                    </a:ext>
                  </a:extLst>
                </a:gridCol>
              </a:tblGrid>
              <a:tr h="207881"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(%) converted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668187"/>
                  </a:ext>
                </a:extLst>
              </a:tr>
              <a:tr h="308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 (7)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 [0.18, 0.35]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275418"/>
                  </a:ext>
                </a:extLst>
              </a:tr>
              <a:tr h="207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CSF+/PET-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(17)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 [0.24, 0.67]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 0.001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19194"/>
                  </a:ext>
                </a:extLst>
              </a:tr>
              <a:tr h="308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CSF-/PET+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(23)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 [0.33, 0.87]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678239"/>
                  </a:ext>
                </a:extLst>
              </a:tr>
              <a:tr h="20788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CSF+/PET+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 (48)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15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5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363</Words>
  <Application>Microsoft Office PowerPoint</Application>
  <PresentationFormat>Widescreen</PresentationFormat>
  <Paragraphs>228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University of Minnesota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 Men</dc:creator>
  <cp:lastModifiedBy>Lu Men</cp:lastModifiedBy>
  <cp:revision>3</cp:revision>
  <dcterms:created xsi:type="dcterms:W3CDTF">2024-06-26T18:10:24Z</dcterms:created>
  <dcterms:modified xsi:type="dcterms:W3CDTF">2024-06-26T18:43:33Z</dcterms:modified>
</cp:coreProperties>
</file>